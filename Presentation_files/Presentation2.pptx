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the Safe Underdog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Bayesian Mixed-Effects Approach to ATP Tennis Prediction</a:t>
            </a:r>
            <a:br/>
            <a:br/>
            <a:r>
              <a:rPr/>
              <a:t>Ryan Mersereau and Naomi Novick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you watch sports, it is more fun to pick someone to root for (we don’t condone gambling)</a:t>
            </a:r>
            <a:br/>
          </a:p>
          <a:p>
            <a:pPr lvl="0"/>
            <a:r>
              <a:rPr/>
              <a:t>Casual tennis viewers struggle to pick a player to root for</a:t>
            </a:r>
          </a:p>
          <a:p>
            <a:pPr lvl="0"/>
            <a:r>
              <a:rPr/>
              <a:t>Big stars are recognizable, but most players are unfamiliar</a:t>
            </a:r>
          </a:p>
          <a:p>
            <a:pPr lvl="0"/>
            <a:r>
              <a:rPr/>
              <a:t>Choosing an underdog is appealing, but risky without context of data</a:t>
            </a:r>
          </a:p>
          <a:p>
            <a:pPr lvl="0"/>
            <a:r>
              <a:rPr/>
              <a:t>Goal: Build a simple, data-informed model for picking a “safe” underdog, designed for casual viewers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Want a model designed for casual viewers, not experts</a:t>
            </a:r>
          </a:p>
          <a:p>
            <a:pPr lvl="0"/>
            <a:r>
              <a:rPr/>
              <a:t>Should ignore complex factors (play style, endurance, etc.)</a:t>
            </a:r>
          </a:p>
          <a:p>
            <a:pPr lvl="0"/>
            <a:r>
              <a:rPr/>
              <a:t>Uses only what you can easily see or look up:</a:t>
            </a:r>
          </a:p>
          <a:p>
            <a:pPr lvl="1"/>
            <a:r>
              <a:rPr/>
              <a:t>Players</a:t>
            </a:r>
          </a:p>
          <a:p>
            <a:pPr lvl="1"/>
            <a:r>
              <a:rPr/>
              <a:t>Court surface</a:t>
            </a:r>
          </a:p>
          <a:p>
            <a:pPr lvl="1"/>
            <a:r>
              <a:rPr/>
              <a:t>ATP ranking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Many tennis models require detailed data unavailable to casual fans</a:t>
            </a:r>
          </a:p>
          <a:p>
            <a:pPr lvl="0"/>
            <a:r>
              <a:rPr/>
              <a:t>Simpler alternatives (regression, ELO, head-to-head) lack coverage for low-data players</a:t>
            </a:r>
          </a:p>
          <a:p>
            <a:pPr lvl="0"/>
            <a:r>
              <a:rPr/>
              <a:t>None are designed specifically for players with limited match history</a:t>
            </a:r>
          </a:p>
          <a:p>
            <a:pPr lvl="0"/>
            <a:r>
              <a:rPr/>
              <a:t>We can fill this gap with a Bayesian hierarchical model, borrowing strength across players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ATP matches 2019-2023 available from Sackmann public GitHub repository</a:t>
                </a:r>
              </a:p>
              <a:p>
                <a:pPr lvl="0"/>
                <a:r>
                  <a:rPr/>
                  <a:t>Examine surface effect: Clay, Hard, and Grass</a:t>
                </a:r>
              </a:p>
              <a:p>
                <a:pPr lvl="0"/>
                <a:r>
                  <a:rPr/>
                  <a:t>Key predictor: Rank difference (opponent - player)</a:t>
                </a:r>
              </a:p>
              <a:p>
                <a:pPr lvl="0"/>
                <a:r>
                  <a:rPr/>
                  <a:t>“Top players”: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≥</m:t>
                    </m:r>
                  </m:oMath>
                </a14:m>
                <a:r>
                  <a:rPr/>
                  <a:t> 50 matches</a:t>
                </a:r>
              </a:p>
              <a:p>
                <a:pPr lvl="0"/>
                <a:r>
                  <a:rPr/>
                  <a:t>“Mid players”: 10-49 matches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(check this notation)</a:t>
            </a:r>
          </a:p>
        </p:txBody>
      </p:sp>
      <p:pic>
        <p:nvPicPr>
          <p:cNvPr descr="Flowcha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Specifics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Outcome of each match: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rPr>
                        <m:nor/>
                        <m:sty m:val="p"/>
                      </m:rPr>
                      <m:t>Bernoulli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logit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  <m:r>
                              <m:t>k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A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Sup>
                          <m:e>
                            <m:r>
                              <m:t>σ</m:t>
                            </m:r>
                          </m:e>
                          <m:sub>
                            <m:r>
                              <m:t>A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: Player random effect (skill)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A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Sup>
                          <m:e>
                            <m:r>
                              <m:t>σ</m:t>
                            </m:r>
                          </m:e>
                          <m:sub>
                            <m:r>
                              <m:t>A</m:t>
                            </m:r>
                            <m:r>
                              <m:t>a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: Player surface interaction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r>
                              <m:t>2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: Vague priors on player match-up (rank difference) and surface effect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,</m:t>
                    </m:r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Half Cauchy</a:t>
                </a:r>
              </a:p>
              <a:p>
                <a:pPr lvl="0"/>
                <a:r>
                  <a:rPr/>
                  <a:t>Top-player posteriors used as informative priors for a fixed effect mid-player model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players are representative of the population</a:t>
            </a:r>
          </a:p>
          <a:p>
            <a:pPr lvl="0"/>
            <a:r>
              <a:rPr/>
              <a:t>Mid and top players come from the same population</a:t>
            </a:r>
          </a:p>
          <a:p>
            <a:pPr lvl="0"/>
            <a:r>
              <a:rPr/>
              <a:t>Players are mutually independent  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Supplimentary Results: Surface &amp; Rank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SSVS determined that surface effect is significant</a:t>
                </a:r>
              </a:p>
              <a:p>
                <a:pPr lvl="0"/>
                <a:r>
                  <a:rPr/>
                  <a:t>Rank difference is a significant positive predictor of winning probability</a:t>
                </a:r>
              </a:p>
              <a:p>
                <a:pPr lvl="0"/>
                <a:r>
                  <a:rPr/>
                  <a:t>Prob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β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</a:p>
              <a:p>
                <a:pPr lvl="0"/>
                <a:r>
                  <a:rPr/>
                  <a:t>DIC comparison between models to determine interaction is significant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Interaction</a:t>
            </a:r>
          </a:p>
        </p:txBody>
      </p:sp>
      <p:pic>
        <p:nvPicPr>
          <p:cNvPr descr="Intera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3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Posterior Predictions for Single player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Bayesian credible intervals are wider for mid-players than top players</a:t>
            </a:r>
          </a:p>
          <a:p>
            <a:pPr lvl="0"/>
            <a:r>
              <a:rPr/>
              <a:t>Less data = More uncertainty</a:t>
            </a:r>
          </a:p>
          <a:p>
            <a:pPr lvl="0"/>
            <a:r>
              <a:rPr/>
              <a:t>Frequentist GLM estimates gives same result as conjugate vauge priors for Bayes</a:t>
            </a:r>
          </a:p>
          <a:p>
            <a:pPr lvl="0"/>
            <a:r>
              <a:rPr/>
              <a:t>lacks shrinkage and are more extreme at tails</a:t>
            </a:r>
          </a:p>
          <a:p>
            <a:pPr lvl="0"/>
            <a:r>
              <a:rPr/>
              <a:t>Plot shows frequentist (Vague Prior) vs Bayesian (Strong Prior) estimate for a single mid-player</a:t>
            </a:r>
          </a:p>
        </p:txBody>
      </p:sp>
      <p:pic>
        <p:nvPicPr>
          <p:cNvPr descr="Single_Player_Bayes_vs_Freq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Posterior Predictions for Future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from the next year (2024) and selected the players we just modeled</a:t>
            </a:r>
          </a:p>
          <a:p>
            <a:pPr lvl="0"/>
            <a:r>
              <a:rPr/>
              <a:t>We used our model to predict the outcome of these matches</a:t>
            </a:r>
          </a:p>
          <a:p>
            <a:pPr lvl="0"/>
            <a:r>
              <a:rPr/>
              <a:t>Our model had accuracy of 61.2% and sensitivity (true positive) of 54.4%</a:t>
            </a:r>
          </a:p>
          <a:p>
            <a:pPr lvl="0"/>
            <a:r>
              <a:rPr/>
              <a:t>This is ok, but much better than a model that does not pool strength from the top players</a:t>
            </a:r>
          </a:p>
          <a:p>
            <a:pPr lvl="1"/>
            <a:r>
              <a:rPr/>
              <a:t>Vague model had accuracy of 55.9% but sensitivity of only 18.4%!!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Should you Root for? (Summary of Fixed Effects)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Strengths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Shrinkage improves stability for low-data players</a:t>
            </a:r>
          </a:p>
          <a:p>
            <a:pPr lvl="0"/>
            <a:r>
              <a:rPr/>
              <a:t>Credible intervals communicate prediction uncertainty honestly</a:t>
            </a:r>
          </a:p>
          <a:p>
            <a:pPr lvl="0"/>
            <a:r>
              <a:rPr/>
              <a:t>Rank difference along is a noisy signal, ignores form, injuries, head-to-head</a:t>
            </a:r>
          </a:p>
          <a:p>
            <a:pPr lvl="0"/>
            <a:r>
              <a:rPr/>
              <a:t>Could expand time frame to capture larger player pool, track players along time, or have an internal database of more complex predictors per player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Details (Extra information Slides)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effects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SSVS: </a:t>
            </a:r>
            <a:r>
              <a:rPr>
                <a:latin typeface="Courier"/>
              </a:rPr>
              <a:t>delta ~ dcat([1/3, 1/3, 1/3])</a:t>
            </a:r>
          </a:p>
          <a:p>
            <a:pPr lvl="1"/>
            <a:r>
              <a:rPr/>
              <a:t>Interaction: P(M1)=0.49, Additive: P(M2)=0.51, No fixed surface effect: P(M3)≈0</a:t>
            </a:r>
          </a:p>
          <a:p>
            <a:pPr lvl="0"/>
            <a:r>
              <a:rPr/>
              <a:t>Priors on σ: Half-T(0,1,4) truncated at 0</a:t>
            </a:r>
          </a:p>
          <a:p>
            <a:pPr lvl="0"/>
            <a:r>
              <a:rPr/>
              <a:t>Samples confirmed to converge via Gelman-Rubin R-hat &lt; 1.05</a:t>
            </a:r>
          </a:p>
          <a:p>
            <a:pPr lvl="0"/>
            <a:r>
              <a:rPr/>
              <a:t>DIC: Interaction model 27820, Additive model 27927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Extracting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Variance hyperparameters fit via finding MLE of Gamma distribution likelihood built on top-player posteriors: Using method </a:t>
            </a:r>
            <a:r>
              <a:rPr>
                <a:latin typeface="Courier"/>
              </a:rPr>
              <a:t>optim(BFGS)</a:t>
            </a:r>
            <a:r>
              <a:rPr/>
              <a:t>  </a:t>
            </a:r>
          </a:p>
          <a:p>
            <a:pPr lvl="0"/>
            <a:r>
              <a:rPr/>
              <a:t>Normal hyperparameters extracted from summary statistics exactly, use mean and SD from summary of MCMC.list$statistics</a:t>
            </a:r>
          </a:p>
          <a:p>
            <a:pPr lvl="0"/>
            <a:r>
              <a:rPr/>
              <a:t>Rank difference slightly lower/wider for mid players than top players</a:t>
            </a:r>
          </a:p>
          <a:p>
            <a:pPr lvl="1"/>
            <a:r>
              <a:rPr/>
              <a:t>Restricted fixed effect model to only the observations with rank_diff within the center 95% of top_player rank_diff quantile(.025, .975)</a:t>
            </a:r>
          </a:p>
          <a:p>
            <a:pPr lvl="1"/>
            <a:r>
              <a:rPr/>
              <a:t>Player “Martin Cuevas” had no data within this limit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Fixed effect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4 chains, 10k burn-in, 20k samples;</a:t>
                </a:r>
              </a:p>
              <a:p>
                <a:pPr lvl="0"/>
                <a:r>
                  <a:rPr/>
                  <a:t>Samples confirmed to converge via Gelman-Rubin R-hat &lt; 1.05</a:t>
                </a:r>
              </a:p>
              <a:p>
                <a:pPr lvl="0"/>
                <a:r>
                  <a:rPr/>
                  <a:t>Surface encoding: 1=Clay, 2=Grass, 3=Hard (alphabetical factor levels in R)</a:t>
                </a:r>
              </a:p>
              <a:p>
                <a:pPr lvl="0"/>
                <a:r>
                  <a:rPr/>
                  <a:t>For future predictions, we plugged the new values into the prediction formula rather than re-running JAGS (code on next slide) ## &gt; d.grid = data.frame(mid_df_future |&gt; select(-outcome), Est=NA, Lower=NA, Upper=NA) for ( i in 1:nrow(d.grid) ){</a:t>
                </a:r>
                <a:br/>
                <a:r>
                  <a:rPr/>
                  <a:t>surf = d.grid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t>u</m:t>
                    </m:r>
                    <m:r>
                      <m:t>r</m:t>
                    </m:r>
                    <m:r>
                      <m:t>f</m:t>
                    </m:r>
                    <m:r>
                      <m:t>a</m:t>
                    </m:r>
                    <m:r>
                      <m:t>c</m:t>
                    </m:r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i</m:t>
                        </m:r>
                      </m:e>
                    </m:d>
                    <m:r>
                      <m:t>p</m:t>
                    </m:r>
                    <m:r>
                      <m:t>l</m:t>
                    </m:r>
                    <m:r>
                      <m:t>a</m:t>
                    </m:r>
                    <m:r>
                      <m:t>y</m:t>
                    </m:r>
                    <m:r>
                      <m:t>e</m:t>
                    </m:r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.</m:t>
                    </m:r>
                    <m:r>
                      <m:t>g</m:t>
                    </m:r>
                    <m:r>
                      <m:t>r</m:t>
                    </m:r>
                    <m:r>
                      <m:t>i</m:t>
                    </m:r>
                    <m:r>
                      <m:t>d</m:t>
                    </m:r>
                  </m:oMath>
                </a14:m>
                <a:r>
                  <a:rPr/>
                  <a:t>player[i] mu = rez[,paste0(“alpha[”, surf, ”]”)] + rez[,“beta”]*d.grid</a:t>
                </a:r>
                <a:r>
                  <a:rPr/>
                  <a:t>$rank_diff[i] +
  rez[,paste0("A[", player, "]")] +
  rez[,paste0("B[", player, ",", surf, "]")]
pr = 1/(1+exp(-mu))
d.grid[i,c("Est", "Lower", "Upper")] = round(quantile(pr, p=c(0.5, 0.025, 0.975)), 3)
}
Results = data.frame(mid_df_future$</a:t>
                </a:r>
                <a:r>
                  <a:rPr/>
                  <a:t>outcome, d.grid)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Picking the Safe Underdog</dc:title>
  <dc:creator>Ryan Mersereau and Naomi Novick</dc:creator>
  <cp:keywords/>
  <dcterms:created xsi:type="dcterms:W3CDTF">2026-05-01T00:13:26Z</dcterms:created>
  <dcterms:modified xsi:type="dcterms:W3CDTF">2026-05-01T00:13:26Z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ST540 Final Project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ubtitle">
    <vt:lpwstr>A Bayesian Mixed-Effects Approach to ATP Tennis Prediction</vt:lpwstr>
  </property>
  <property fmtid="{D5CDD505-2E9C-101B-9397-08002B2CF9AE}" pid="15" name="toc-title">
    <vt:lpwstr>Table of contents</vt:lpwstr>
  </property>
</Properties>
</file>