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8" Type="http://schemas.openxmlformats.org/officeDocument/2006/relationships/viewProps" Target="viewProps.xml" /><Relationship Id="rId17" Type="http://schemas.openxmlformats.org/officeDocument/2006/relationships/presProps" Target="presProps.xml" /><Relationship Id="rId1" Type="http://schemas.openxmlformats.org/officeDocument/2006/relationships/slideMaster" Target="slideMasters/slideMaster1.xml" /><Relationship Id="rId20" Type="http://schemas.openxmlformats.org/officeDocument/2006/relationships/tableStyles" Target="tableStyles.xml" /><Relationship Id="rId1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Picking the Safe Underdog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 Bayesian Mixed-Effects Approach to ATP Tennis Prediction</a:t>
            </a:r>
            <a:br/>
            <a:br/>
            <a:r>
              <a:rPr/>
              <a:t>Ryan Mersereau and Naomi Novick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Motivation</a:t>
            </a:r>
          </a:p>
        </p:txBody>
      </p:sp>
      <p:sp>
        <p:nvSpPr>
          <p:cNvPr id="3" name="Content Placeholder 2"/>
          <p:cNvSpPr>
            <a:spLocks noGrp="1"/>
          </p:cNvSpPr>
          <p:nvPr>
            <p:ph idx="1"/>
          </p:nvPr>
        </p:nvSpPr>
        <p:spPr/>
        <p:txBody>
          <a:bodyPr/>
          <a:lstStyle/>
          <a:p>
            <a:pPr lvl="0"/>
            <a:r>
              <a:rPr/>
              <a:t>When you watch sports, it is more fun to pick someone to root for (we don’t condone gambling)</a:t>
            </a:r>
            <a:br/>
          </a:p>
          <a:p>
            <a:pPr lvl="0"/>
            <a:r>
              <a:rPr/>
              <a:t>Casual tennis viewers struggle to pick a player to root for</a:t>
            </a:r>
          </a:p>
          <a:p>
            <a:pPr lvl="0"/>
            <a:r>
              <a:rPr/>
              <a:t>Big stars are recognizable, but most players are unfamiliar</a:t>
            </a:r>
          </a:p>
          <a:p>
            <a:pPr lvl="0"/>
            <a:r>
              <a:rPr/>
              <a:t>Choosing an underdog is appealing, but risky without context of data</a:t>
            </a:r>
          </a:p>
          <a:p>
            <a:pPr lvl="0"/>
            <a:r>
              <a:rPr/>
              <a:t>Goal: Build a simple, data-informed model for picking a “safe” underdog, designed for casual viewers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Background</a:t>
            </a:r>
          </a:p>
        </p:txBody>
      </p:sp>
      <p:sp>
        <p:nvSpPr>
          <p:cNvPr id="3" name="Content Placeholder 2"/>
          <p:cNvSpPr>
            <a:spLocks noGrp="1"/>
          </p:cNvSpPr>
          <p:nvPr>
            <p:ph idx="1"/>
          </p:nvPr>
        </p:nvSpPr>
        <p:spPr/>
        <p:txBody>
          <a:bodyPr/>
          <a:lstStyle/>
          <a:p>
            <a:pPr lvl="0"/>
            <a:r>
              <a:rPr/>
              <a:t>Want a model designed for casual viewers, not experts</a:t>
            </a:r>
          </a:p>
          <a:p>
            <a:pPr lvl="0"/>
            <a:r>
              <a:rPr/>
              <a:t>Should ignore complex factors (play style, endurance, etc.)</a:t>
            </a:r>
          </a:p>
          <a:p>
            <a:pPr lvl="0"/>
            <a:r>
              <a:rPr/>
              <a:t>Uses only what you can easily see or look up:</a:t>
            </a:r>
          </a:p>
          <a:p>
            <a:pPr lvl="1"/>
            <a:r>
              <a:rPr/>
              <a:t>Players</a:t>
            </a:r>
          </a:p>
          <a:p>
            <a:pPr lvl="1"/>
            <a:r>
              <a:rPr/>
              <a:t>Court surface</a:t>
            </a:r>
          </a:p>
          <a:p>
            <a:pPr lvl="1"/>
            <a:r>
              <a:rPr/>
              <a:t>ATP ranking</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Research Gap</a:t>
            </a:r>
          </a:p>
        </p:txBody>
      </p:sp>
      <p:sp>
        <p:nvSpPr>
          <p:cNvPr id="3" name="Content Placeholder 2"/>
          <p:cNvSpPr>
            <a:spLocks noGrp="1"/>
          </p:cNvSpPr>
          <p:nvPr>
            <p:ph idx="1"/>
          </p:nvPr>
        </p:nvSpPr>
        <p:spPr/>
        <p:txBody>
          <a:bodyPr/>
          <a:lstStyle/>
          <a:p>
            <a:pPr lvl="0"/>
            <a:r>
              <a:rPr/>
              <a:t>Many tennis models require detailed data unavailable to casual fans</a:t>
            </a:r>
          </a:p>
          <a:p>
            <a:pPr lvl="0"/>
            <a:r>
              <a:rPr/>
              <a:t>Simpler alternatives (regression, ELO, head-to-head) lack coverage for low-data players</a:t>
            </a:r>
          </a:p>
          <a:p>
            <a:pPr lvl="0"/>
            <a:r>
              <a:rPr/>
              <a:t>None are designed specifically for players with limited match history</a:t>
            </a:r>
          </a:p>
          <a:p>
            <a:pPr lvl="0"/>
            <a:r>
              <a:rPr/>
              <a:t>We can fill this gap with a Bayesian hierarchical model, borrowing strength across players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ATP matches 2019-2023 available from Sackmann public GitHub repository</a:t>
                </a:r>
              </a:p>
              <a:p>
                <a:pPr lvl="0"/>
                <a:r>
                  <a:rPr/>
                  <a:t>Examine surface effect: Clay, Hard, and Grass</a:t>
                </a:r>
              </a:p>
              <a:p>
                <a:pPr lvl="0"/>
                <a:r>
                  <a:rPr/>
                  <a:t>Key predictor: Rank difference (opponent - player)</a:t>
                </a:r>
              </a:p>
              <a:p>
                <a:pPr lvl="0"/>
                <a:r>
                  <a:rPr/>
                  <a:t>“Top players”: </a:t>
                </a:r>
                <a14:m>
                  <m:oMath xmlns:m="http://schemas.openxmlformats.org/officeDocument/2006/math">
                    <m:r>
                      <m:rPr>
                        <m:sty m:val="p"/>
                      </m:rPr>
                      <m:t>≥</m:t>
                    </m:r>
                  </m:oMath>
                </a14:m>
                <a:r>
                  <a:rPr/>
                  <a:t> 50 matches</a:t>
                </a:r>
              </a:p>
              <a:p>
                <a:pPr lvl="0"/>
                <a:r>
                  <a:rPr/>
                  <a:t>“Mid players”: 10-49 matches</a:t>
                </a:r>
              </a:p>
            </p:txBody>
          </p:sp>
        </mc:Choice>
      </mc:AlternateContent>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Model (check this notation)</a:t>
            </a:r>
          </a:p>
        </p:txBody>
      </p:sp>
      <p:pic>
        <p:nvPicPr>
          <p:cNvPr descr="Flowchart.png" id="0" name="Picture 1"/>
          <p:cNvPicPr>
            <a:picLocks noGrp="1" noChangeAspect="1"/>
          </p:cNvPicPr>
          <p:nvPr/>
        </p:nvPicPr>
        <p:blipFill>
          <a:blip r:embed="rId2"/>
          <a:stretch>
            <a:fillRect/>
          </a:stretch>
        </p:blipFill>
        <p:spPr bwMode="auto">
          <a:xfrm>
            <a:off x="457200" y="1511300"/>
            <a:ext cx="8229600" cy="2755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Model Specifics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Outcome of each match: </a:t>
                </a:r>
                <a14:m>
                  <m:oMath xmlns:m="http://schemas.openxmlformats.org/officeDocument/2006/math">
                    <m:sSub>
                      <m:e>
                        <m:r>
                          <m:t>Y</m:t>
                        </m:r>
                      </m:e>
                      <m:sub>
                        <m:r>
                          <m:t>i</m:t>
                        </m:r>
                        <m:r>
                          <m:t>j</m:t>
                        </m:r>
                        <m:r>
                          <m:t>k</m:t>
                        </m:r>
                      </m:sub>
                    </m:sSub>
                    <m:r>
                      <m:rPr>
                        <m:sty m:val="p"/>
                      </m:rPr>
                      <m:t>∼</m:t>
                    </m:r>
                    <m:r>
                      <m:rPr>
                        <m:nor/>
                        <m:sty m:val="p"/>
                      </m:rPr>
                      <m:t>Bernoulli</m:t>
                    </m:r>
                    <m:d>
                      <m:dPr>
                        <m:begChr m:val="("/>
                        <m:sepChr m:val=""/>
                        <m:endChr m:val=")"/>
                        <m:grow/>
                      </m:dPr>
                      <m:e>
                        <m:sSub>
                          <m:e>
                            <m:r>
                              <m:t>p</m:t>
                            </m:r>
                          </m:e>
                          <m:sub>
                            <m:r>
                              <m:t>i</m:t>
                            </m:r>
                            <m:r>
                              <m:t>j</m:t>
                            </m:r>
                            <m:r>
                              <m:t>k</m:t>
                            </m:r>
                          </m:sub>
                        </m:sSub>
                      </m:e>
                    </m:d>
                  </m:oMath>
                </a14:m>
                <a:r>
                  <a:rPr/>
                  <a:t> </a:t>
                </a:r>
                <a14:m>
                  <m:oMath xmlns:m="http://schemas.openxmlformats.org/officeDocument/2006/math">
                    <m:r>
                      <m:rPr>
                        <m:nor/>
                        <m:sty m:val="p"/>
                      </m:rPr>
                      <m:t>logit</m:t>
                    </m:r>
                    <m:d>
                      <m:dPr>
                        <m:begChr m:val="("/>
                        <m:sepChr m:val=""/>
                        <m:endChr m:val=")"/>
                        <m:grow/>
                      </m:dPr>
                      <m:e>
                        <m:sSub>
                          <m:e>
                            <m:r>
                              <m:t>p</m:t>
                            </m:r>
                          </m:e>
                          <m:sub>
                            <m:r>
                              <m:t>i</m:t>
                            </m:r>
                            <m:r>
                              <m:t>j</m:t>
                            </m:r>
                            <m:r>
                              <m:t>k</m:t>
                            </m:r>
                          </m:sub>
                        </m:sSub>
                      </m:e>
                    </m:d>
                    <m:r>
                      <m:rPr>
                        <m:sty m:val="p"/>
                      </m:rPr>
                      <m:t>=</m:t>
                    </m:r>
                    <m:sSub>
                      <m:e>
                        <m:r>
                          <m:t>A</m:t>
                        </m:r>
                      </m:e>
                      <m:sub>
                        <m:r>
                          <m:t>i</m:t>
                        </m:r>
                      </m:sub>
                    </m:sSub>
                    <m:r>
                      <m:rPr>
                        <m:sty m:val="p"/>
                      </m:rPr>
                      <m:t>+</m:t>
                    </m:r>
                    <m:sSub>
                      <m:e>
                        <m:r>
                          <m:t>α</m:t>
                        </m:r>
                      </m:e>
                      <m:sub>
                        <m:r>
                          <m:t>j</m:t>
                        </m:r>
                      </m:sub>
                    </m:sSub>
                    <m:r>
                      <m:rPr>
                        <m:sty m:val="p"/>
                      </m:rPr>
                      <m:t>+</m:t>
                    </m:r>
                    <m:sSub>
                      <m:e>
                        <m:d>
                          <m:dPr>
                            <m:begChr m:val="("/>
                            <m:sepChr m:val=""/>
                            <m:endChr m:val=")"/>
                            <m:grow/>
                          </m:dPr>
                          <m:e>
                            <m:r>
                              <m:t>α</m:t>
                            </m:r>
                            <m:r>
                              <m:t>A</m:t>
                            </m:r>
                          </m:e>
                        </m:d>
                      </m:e>
                      <m:sub>
                        <m:r>
                          <m:t>i</m:t>
                        </m:r>
                        <m:r>
                          <m:t>j</m:t>
                        </m:r>
                      </m:sub>
                    </m:sSub>
                    <m:r>
                      <m:rPr>
                        <m:sty m:val="p"/>
                      </m:rPr>
                      <m:t>+</m:t>
                    </m:r>
                    <m:r>
                      <m:t>β</m:t>
                    </m:r>
                    <m:sSub>
                      <m:e>
                        <m:r>
                          <m:t>X</m:t>
                        </m:r>
                      </m:e>
                      <m:sub>
                        <m:r>
                          <m:t>i</m:t>
                        </m:r>
                        <m:r>
                          <m:t>j</m:t>
                        </m:r>
                        <m:r>
                          <m:t>k</m:t>
                        </m:r>
                      </m:sub>
                    </m:sSub>
                  </m:oMath>
                </a14:m>
              </a:p>
              <a:p>
                <a:pPr lvl="1"/>
                <a14:m>
                  <m:oMath xmlns:m="http://schemas.openxmlformats.org/officeDocument/2006/math">
                    <m:sSub>
                      <m:e>
                        <m:r>
                          <m:t>A</m:t>
                        </m:r>
                      </m:e>
                      <m:sub>
                        <m:r>
                          <m:t>i</m:t>
                        </m:r>
                      </m:sub>
                    </m:sSub>
                    <m:r>
                      <m:rPr>
                        <m:sty m:val="p"/>
                      </m:rPr>
                      <m:t>∼</m:t>
                    </m:r>
                    <m:r>
                      <m:t>N</m:t>
                    </m:r>
                    <m:d>
                      <m:dPr>
                        <m:begChr m:val="("/>
                        <m:sepChr m:val=""/>
                        <m:endChr m:val=")"/>
                        <m:grow/>
                      </m:dPr>
                      <m:e>
                        <m:r>
                          <m:t>0</m:t>
                        </m:r>
                        <m:r>
                          <m:rPr>
                            <m:sty m:val="p"/>
                          </m:rPr>
                          <m:t>,</m:t>
                        </m:r>
                        <m:sSubSup>
                          <m:e>
                            <m:r>
                              <m:t>σ</m:t>
                            </m:r>
                          </m:e>
                          <m:sub>
                            <m:r>
                              <m:t>A</m:t>
                            </m:r>
                          </m:sub>
                          <m:sup>
                            <m:r>
                              <m:t>2</m:t>
                            </m:r>
                          </m:sup>
                        </m:sSubSup>
                      </m:e>
                    </m:d>
                  </m:oMath>
                </a14:m>
                <a:r>
                  <a:rPr/>
                  <a:t>: Player random effect (skill)</a:t>
                </a:r>
              </a:p>
              <a:p>
                <a:pPr lvl="1"/>
                <a14:m>
                  <m:oMath xmlns:m="http://schemas.openxmlformats.org/officeDocument/2006/math">
                    <m:sSub>
                      <m:e>
                        <m:d>
                          <m:dPr>
                            <m:begChr m:val="("/>
                            <m:sepChr m:val=""/>
                            <m:endChr m:val=")"/>
                            <m:grow/>
                          </m:dPr>
                          <m:e>
                            <m:r>
                              <m:t>α</m:t>
                            </m:r>
                            <m:r>
                              <m:t>A</m:t>
                            </m:r>
                          </m:e>
                        </m:d>
                      </m:e>
                      <m:sub>
                        <m:r>
                          <m:t>i</m:t>
                        </m:r>
                        <m:r>
                          <m:t>j</m:t>
                        </m:r>
                      </m:sub>
                    </m:sSub>
                    <m:r>
                      <m:rPr>
                        <m:sty m:val="p"/>
                      </m:rPr>
                      <m:t>=</m:t>
                    </m:r>
                    <m:sSub>
                      <m:e>
                        <m:r>
                          <m:t>B</m:t>
                        </m:r>
                      </m:e>
                      <m:sub>
                        <m:r>
                          <m:t>i</m:t>
                        </m:r>
                        <m:r>
                          <m:t>j</m:t>
                        </m:r>
                      </m:sub>
                    </m:sSub>
                    <m:r>
                      <m:rPr>
                        <m:sty m:val="p"/>
                      </m:rPr>
                      <m:t>∼</m:t>
                    </m:r>
                    <m:r>
                      <m:t>N</m:t>
                    </m:r>
                    <m:d>
                      <m:dPr>
                        <m:begChr m:val="("/>
                        <m:sepChr m:val=""/>
                        <m:endChr m:val=")"/>
                        <m:grow/>
                      </m:dPr>
                      <m:e>
                        <m:r>
                          <m:t>0</m:t>
                        </m:r>
                        <m:r>
                          <m:rPr>
                            <m:sty m:val="p"/>
                          </m:rPr>
                          <m:t>,</m:t>
                        </m:r>
                        <m:sSubSup>
                          <m:e>
                            <m:r>
                              <m:t>σ</m:t>
                            </m:r>
                          </m:e>
                          <m:sub>
                            <m:r>
                              <m:t>A</m:t>
                            </m:r>
                            <m:r>
                              <m:t>a</m:t>
                            </m:r>
                          </m:sub>
                          <m:sup>
                            <m:r>
                              <m:t>2</m:t>
                            </m:r>
                          </m:sup>
                        </m:sSubSup>
                      </m:e>
                    </m:d>
                  </m:oMath>
                </a14:m>
                <a:r>
                  <a:rPr/>
                  <a:t>: Player surface interaction</a:t>
                </a:r>
              </a:p>
              <a:p>
                <a:pPr lvl="1"/>
                <a14:m>
                  <m:oMath xmlns:m="http://schemas.openxmlformats.org/officeDocument/2006/math">
                    <m:r>
                      <m:t>β</m:t>
                    </m:r>
                    <m:r>
                      <m:rPr>
                        <m:sty m:val="p"/>
                      </m:rPr>
                      <m:t>∼</m:t>
                    </m:r>
                    <m:r>
                      <m:t>N</m:t>
                    </m:r>
                    <m:d>
                      <m:dPr>
                        <m:begChr m:val="("/>
                        <m:sepChr m:val=""/>
                        <m:endChr m:val=")"/>
                        <m:grow/>
                      </m:dPr>
                      <m:e>
                        <m:r>
                          <m:t>0</m:t>
                        </m:r>
                        <m:r>
                          <m:rPr>
                            <m:sty m:val="p"/>
                          </m:rPr>
                          <m:t>,</m:t>
                        </m:r>
                        <m:sSup>
                          <m:e>
                            <m:r>
                              <m:t>2</m:t>
                            </m:r>
                          </m:e>
                          <m:sup>
                            <m:r>
                              <m:t>2</m:t>
                            </m:r>
                          </m:sup>
                        </m:sSup>
                      </m:e>
                    </m:d>
                  </m:oMath>
                </a14:m>
                <a:r>
                  <a:rPr/>
                  <a:t>: Vague prior on player match-up (rank difference)</a:t>
                </a:r>
              </a:p>
              <a:p>
                <a:pPr lvl="0"/>
                <a:r>
                  <a:rPr/>
                  <a:t>Top-player posteriors used as informative priors for a fixed effect mid-player model</a:t>
                </a:r>
              </a:p>
            </p:txBody>
          </p:sp>
        </mc:Choice>
      </mc:AlternateContent>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Model Assumptions</a:t>
            </a:r>
          </a:p>
        </p:txBody>
      </p:sp>
      <p:sp>
        <p:nvSpPr>
          <p:cNvPr id="3" name="Content Placeholder 2"/>
          <p:cNvSpPr>
            <a:spLocks noGrp="1"/>
          </p:cNvSpPr>
          <p:nvPr>
            <p:ph idx="1"/>
          </p:nvPr>
        </p:nvSpPr>
        <p:spPr/>
        <p:txBody>
          <a:bodyPr/>
          <a:lstStyle/>
          <a:p>
            <a:pPr lvl="0"/>
            <a:r>
              <a:rPr/>
              <a:t>Top players are representative of the population</a:t>
            </a:r>
          </a:p>
          <a:p>
            <a:pPr lvl="0"/>
            <a:r>
              <a:rPr/>
              <a:t>Mid and top players come from the same population</a:t>
            </a:r>
          </a:p>
          <a:p>
            <a:pPr lvl="0"/>
            <a:r>
              <a:rPr/>
              <a:t>Players are mutually independent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Supplimentary Results: Surface &amp; Rank Effects</a:t>
            </a:r>
          </a:p>
        </p:txBody>
      </p:sp>
      <p:sp>
        <p:nvSpPr>
          <p:cNvPr id="3" name="Content Placeholder 2"/>
          <p:cNvSpPr>
            <a:spLocks noGrp="1"/>
          </p:cNvSpPr>
          <p:nvPr>
            <p:ph idx="1"/>
          </p:nvPr>
        </p:nvSpPr>
        <p:spPr/>
        <p:txBody>
          <a:bodyPr/>
          <a:lstStyle/>
          <a:p>
            <a:pPr lvl="0"/>
            <a:r>
              <a:rPr/>
              <a:t>SSVS determined</a:t>
            </a:r>
          </a:p>
          <a:p>
            <a:pPr lvl="0"/>
            <a:r>
              <a:rPr/>
              <a:t>surface effect is significant</a:t>
            </a:r>
          </a:p>
          <a:p>
            <a:pPr lvl="0"/>
            <a:r>
              <a:rPr/>
              <a:t>Rank difference is a significant positive predictor of winning probability</a:t>
            </a:r>
          </a:p>
          <a:p>
            <a:pPr lvl="0"/>
            <a:r>
              <a:rPr/>
              <a:t>DIC comparison between models to determine interaction is significant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Results: Posterior Predictions for Single player</a:t>
            </a:r>
          </a:p>
        </p:txBody>
      </p:sp>
      <p:sp>
        <p:nvSpPr>
          <p:cNvPr id="4" name="Text Placeholder 3"/>
          <p:cNvSpPr>
            <a:spLocks noGrp="1"/>
          </p:cNvSpPr>
          <p:nvPr>
            <p:ph idx="2" sz="half" type="body"/>
          </p:nvPr>
        </p:nvSpPr>
        <p:spPr/>
        <p:txBody>
          <a:bodyPr/>
          <a:lstStyle/>
          <a:p>
            <a:pPr lvl="0"/>
            <a:r>
              <a:rPr/>
              <a:t>Bayesian credible intervals are wider for mid-players than top players</a:t>
            </a:r>
          </a:p>
          <a:p>
            <a:pPr lvl="0"/>
            <a:r>
              <a:rPr/>
              <a:t>Less data = More uncertainty</a:t>
            </a:r>
          </a:p>
          <a:p>
            <a:pPr lvl="0"/>
            <a:r>
              <a:rPr/>
              <a:t>Frequentist GLM estimates lack shrinkage and are more extreme at tails</a:t>
            </a:r>
          </a:p>
          <a:p>
            <a:pPr lvl="0"/>
            <a:r>
              <a:rPr/>
              <a:t>Plot shows frequentist vs Bayesian estimate for a single mid-player</a:t>
            </a:r>
          </a:p>
          <a:p>
            <a:pPr lvl="1"/>
            <a:r>
              <a:rPr/>
              <a:t>Notice that freqentist estimate is the same throughout all rank differences, whereas Bayesain estimate is more certain</a:t>
            </a:r>
          </a:p>
        </p:txBody>
      </p:sp>
      <p:pic>
        <p:nvPicPr>
          <p:cNvPr descr="Single_Player_Bayes_vs_Freq.png" id="0" name="Picture 1"/>
          <p:cNvPicPr>
            <a:picLocks noGrp="1" noChangeAspect="1"/>
          </p:cNvPicPr>
          <p:nvPr/>
        </p:nvPicPr>
        <p:blipFill>
          <a:blip r:embed="rId2"/>
          <a:stretch>
            <a:fillRect/>
          </a:stretch>
        </p:blipFill>
        <p:spPr bwMode="auto">
          <a:xfrm>
            <a:off x="3568700" y="812800"/>
            <a:ext cx="5105400" cy="31496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Posterior Predictions for Future data</a:t>
            </a:r>
          </a:p>
        </p:txBody>
      </p:sp>
      <p:sp>
        <p:nvSpPr>
          <p:cNvPr id="3" name="Content Placeholder 2"/>
          <p:cNvSpPr>
            <a:spLocks noGrp="1"/>
          </p:cNvSpPr>
          <p:nvPr>
            <p:ph idx="1"/>
          </p:nvPr>
        </p:nvSpPr>
        <p:spPr/>
        <p:txBody>
          <a:bodyPr/>
          <a:lstStyle/>
          <a:p>
            <a:pPr lvl="0"/>
            <a:r>
              <a:rPr/>
              <a:t>Data from the next year (2024) and selected the players we just modeled</a:t>
            </a:r>
          </a:p>
          <a:p>
            <a:pPr lvl="0"/>
            <a:r>
              <a:rPr/>
              <a:t>We used our model to predict the outcome of these matches</a:t>
            </a:r>
          </a:p>
          <a:p>
            <a:pPr lvl="0"/>
            <a:r>
              <a:rPr/>
              <a:t>Our model had accuracy of 61.2% and specificity of 54.4%</a:t>
            </a:r>
          </a:p>
          <a:p>
            <a:pPr lvl="0"/>
            <a:r>
              <a:rPr/>
              <a:t>This is ok, but much better than a model that does not pool strength from the top players</a:t>
            </a:r>
          </a:p>
          <a:p>
            <a:pPr lvl="1"/>
            <a:r>
              <a:rPr/>
              <a:t>This model had accuracy of 55.9% but specificity of only 18.4%!!</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 (another plot?)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Strengths &amp; Limitations</a:t>
            </a:r>
          </a:p>
        </p:txBody>
      </p:sp>
      <p:sp>
        <p:nvSpPr>
          <p:cNvPr id="3" name="Content Placeholder 2"/>
          <p:cNvSpPr>
            <a:spLocks noGrp="1"/>
          </p:cNvSpPr>
          <p:nvPr>
            <p:ph idx="1"/>
          </p:nvPr>
        </p:nvSpPr>
        <p:spPr/>
        <p:txBody>
          <a:bodyPr/>
          <a:lstStyle/>
          <a:p>
            <a:pPr lvl="0"/>
            <a:r>
              <a:rPr/>
              <a:t>Shrinkage improves stability for low-data players</a:t>
            </a:r>
          </a:p>
          <a:p>
            <a:pPr lvl="0"/>
            <a:r>
              <a:rPr/>
              <a:t>Credible intervals communicate prediction uncertainty honestly</a:t>
            </a:r>
          </a:p>
          <a:p>
            <a:pPr lvl="0"/>
            <a:r>
              <a:rPr/>
              <a:t>Rank difference along is a noisy signal, ignores form, injuries, head-to-head</a:t>
            </a:r>
          </a:p>
          <a:p>
            <a:pPr lvl="0"/>
            <a:r>
              <a:rPr/>
              <a:t>Could expand time frame to capture larger player pool, track players along time, or have an internal database of more complex predictors per player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Gory Details {visibility “uncounted”}</a:t>
            </a:r>
          </a:p>
        </p:txBody>
      </p:sp>
      <p:sp>
        <p:nvSpPr>
          <p:cNvPr id="3" name="Content Placeholder 2"/>
          <p:cNvSpPr>
            <a:spLocks noGrp="1"/>
          </p:cNvSpPr>
          <p:nvPr>
            <p:ph idx="1"/>
          </p:nvPr>
        </p:nvSpPr>
        <p:spPr/>
        <p:txBody>
          <a:bodyPr/>
          <a:lstStyle/>
          <a:p>
            <a:pPr lvl="0"/>
            <a:r>
              <a:rPr/>
              <a:t>SSVS: </a:t>
            </a:r>
            <a:r>
              <a:rPr>
                <a:latin typeface="Courier"/>
              </a:rPr>
              <a:t>delta ~ dcat([1/3, 1/3, 1/3])</a:t>
            </a:r>
            <a:r>
              <a:rPr/>
              <a:t>; P(M1)=0.49, P(M2)=0.51, P(M3)≈0</a:t>
            </a:r>
          </a:p>
          <a:p>
            <a:pPr lvl="0"/>
            <a:r>
              <a:rPr/>
              <a:t>Priors on σ: Half-T(0,1,4) truncated at 0; tau = 1/σ² ~ Gamma(a,b) for mid model</a:t>
            </a:r>
          </a:p>
          <a:p>
            <a:pPr lvl="0"/>
            <a:r>
              <a:rPr/>
              <a:t>Gamma hyperparameters fit via MLE on top-player posteriors: </a:t>
            </a:r>
            <a:r>
              <a:rPr>
                <a:latin typeface="Courier"/>
              </a:rPr>
              <a:t>optim(BFGS)</a:t>
            </a:r>
          </a:p>
          <a:p>
            <a:pPr lvl="0"/>
            <a:r>
              <a:rPr/>
              <a:t>4 chains, 10k burn-in, 20k samples; Gelman-Rubin R-hat &lt; 1.05</a:t>
            </a:r>
          </a:p>
          <a:p>
            <a:pPr lvl="0"/>
            <a:r>
              <a:rPr/>
              <a:t>Surface encoding: 1=Clay, 2=Grass, 3=Hard (alphabetical factor levels in 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Script</a:t>
            </a:r>
          </a:p>
        </p:txBody>
      </p:sp>
      <p:sp>
        <p:nvSpPr>
          <p:cNvPr id="3" name="Content Placeholder 2"/>
          <p:cNvSpPr>
            <a:spLocks noGrp="1"/>
          </p:cNvSpPr>
          <p:nvPr>
            <p:ph idx="1"/>
          </p:nvPr>
        </p:nvSpPr>
        <p:spPr/>
        <p:txBody>
          <a:bodyPr/>
          <a:lstStyle/>
          <a:p>
            <a:pPr lvl="0" indent="0" marL="0">
              <a:buNone/>
            </a:pPr>
            <a:r>
              <a:rPr i="1"/>
              <a:t>Script:</a:t>
            </a:r>
          </a:p>
          <a:p>
            <a:pPr lvl="0" indent="0" marL="0">
              <a:buNone/>
            </a:pPr>
            <a:r>
              <a:rPr i="1"/>
              <a:t>Imagine you turn on the TV and a game of tennis is playing. You don’t necessarily follow tennis very closely, but you like watching the games and you want to know who you should root for. This is really easy for the big names like Nadal, Federer, Djokovic, Alcaraz, but what about the smaller names? What if you want to root for the underdog, but don’t want to risk getting your hopes up for nothing?</a:t>
            </a:r>
          </a:p>
          <a:p>
            <a:pPr lvl="0" indent="0" marL="0">
              <a:buNone/>
            </a:pPr>
            <a:r>
              <a:rPr i="1"/>
              <a:t>My partner and I both casually enjoy tennis, and we thought this would be a fun algorithm to use next time we tune in to a match. We found this amazing repository from gitHub that has records of professional matches from 1968-2024. We have chose to hone in on data from the years 2019-2023 for completeness and recency.</a:t>
            </a:r>
          </a:p>
          <a:p>
            <a:pPr lvl="0" indent="0" marL="0">
              <a:buNone/>
            </a:pPr>
            <a:r>
              <a:rPr i="1"/>
              <a:t>Now there are a number of factors determining who will win a match of tennis. Handed-ness, endurance, play style, but remember, we are causal fans, we don’t know any of this, nor do we know the intricate rock-paper-scissors mechanics of these factors. We are assuming that you can only see what is on TV and only have the motivation to google who the underdog is in a given scenario. So, we know the player, the court surface, and the men’s professional tennis (ATP) ranking. What now?</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Picking the Safe Underdog</dc:title>
  <dc:creator>Ryan Mersereau and Naomi Novick</dc:creator>
  <cp:keywords/>
  <dcterms:created xsi:type="dcterms:W3CDTF">2026-04-29T18:21:47Z</dcterms:created>
  <dcterms:modified xsi:type="dcterms:W3CDTF">2026-04-29T18:21:47Z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editor">
    <vt:lpwstr>visual</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institute">
    <vt:lpwstr>ST540 Final Project</vt:lpwstr>
  </property>
  <property fmtid="{D5CDD505-2E9C-101B-9397-08002B2CF9AE}" pid="12" name="institutes">
    <vt:lpwstr/>
  </property>
  <property fmtid="{D5CDD505-2E9C-101B-9397-08002B2CF9AE}" pid="13" name="labels">
    <vt:lpwstr/>
  </property>
  <property fmtid="{D5CDD505-2E9C-101B-9397-08002B2CF9AE}" pid="14" name="subtitle">
    <vt:lpwstr>A Bayesian Mixed-Effects Approach to ATP Tennis Prediction</vt:lpwstr>
  </property>
  <property fmtid="{D5CDD505-2E9C-101B-9397-08002B2CF9AE}" pid="15" name="toc-title">
    <vt:lpwstr>Table of contents</vt:lpwstr>
  </property>
</Properties>
</file>