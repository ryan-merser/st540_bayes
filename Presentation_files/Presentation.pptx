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Presentation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Motivation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Primary Goal</a:t>
            </a:r>
          </a:p>
        </p:txBody>
      </p:sp>
      <p:sp>
        <p:nvSpPr>
          <p:cNvPr id="3" name="Content Placeholder 2"/>
          <p:cNvSpPr>
            <a:spLocks noGrp="1"/>
          </p:cNvSpPr>
          <p:nvPr>
            <p:ph idx="1"/>
          </p:nvPr>
        </p:nvSpPr>
        <p:spPr/>
        <p:txBody>
          <a:bodyPr/>
          <a:lstStyle/>
          <a:p>
            <a:pPr lvl="0"/>
            <a:r>
              <a:rPr/>
              <a:t>Watching tennis casually makes it hard to pick a player to root for</a:t>
            </a:r>
          </a:p>
          <a:p>
            <a:pPr lvl="0"/>
            <a:r>
              <a:rPr/>
              <a:t>Big stars are easy to recognize, but most players are unfamiliar</a:t>
            </a:r>
          </a:p>
          <a:p>
            <a:pPr lvl="0"/>
            <a:r>
              <a:rPr/>
              <a:t>Choosing an underdog is appealing, but risky without context</a:t>
            </a:r>
          </a:p>
          <a:p>
            <a:pPr lvl="0"/>
            <a:r>
              <a:rPr/>
              <a:t>How can you identify a “safe” underdog worth rooting for, especially as a casual watcher?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Background/Introduction</a:t>
            </a:r>
          </a:p>
        </p:txBody>
      </p:sp>
      <p:sp>
        <p:nvSpPr>
          <p:cNvPr id="3" name="Content Placeholder 2"/>
          <p:cNvSpPr>
            <a:spLocks noGrp="1"/>
          </p:cNvSpPr>
          <p:nvPr>
            <p:ph idx="1"/>
          </p:nvPr>
        </p:nvSpPr>
        <p:spPr/>
        <p:txBody>
          <a:bodyPr/>
          <a:lstStyle/>
          <a:p>
            <a:pPr lvl="0"/>
            <a:r>
              <a:rPr/>
              <a:t>Designed for casual viewers, not experts</a:t>
            </a:r>
          </a:p>
          <a:p>
            <a:pPr lvl="0"/>
            <a:r>
              <a:rPr/>
              <a:t>Ignores complex factors (play style, endurance, etc.)</a:t>
            </a:r>
          </a:p>
          <a:p>
            <a:pPr lvl="0"/>
            <a:r>
              <a:rPr/>
              <a:t>Uses only what you can easily see or look up:</a:t>
            </a:r>
          </a:p>
          <a:p>
            <a:pPr lvl="1"/>
            <a:r>
              <a:rPr/>
              <a:t>Players</a:t>
            </a:r>
          </a:p>
          <a:p>
            <a:pPr lvl="1"/>
            <a:r>
              <a:rPr/>
              <a:t>Court surface</a:t>
            </a:r>
          </a:p>
          <a:p>
            <a:pPr lvl="1"/>
            <a:r>
              <a:rPr/>
              <a:t>ATP ranking</a:t>
            </a:r>
          </a:p>
          <a:p>
            <a:pPr lvl="0" indent="0" marL="0">
              <a:buNone/>
            </a:pPr>
            <a:r>
              <a:rPr/>
              <a:t>Goal: Find a simple, data-informed way to pick an unknown player who is reasonably likely to win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 gap</a:t>
            </a:r>
          </a:p>
        </p:txBody>
      </p:sp>
      <p:sp>
        <p:nvSpPr>
          <p:cNvPr id="3" name="Content Placeholder 2"/>
          <p:cNvSpPr>
            <a:spLocks noGrp="1"/>
          </p:cNvSpPr>
          <p:nvPr>
            <p:ph idx="1"/>
          </p:nvPr>
        </p:nvSpPr>
        <p:spPr/>
        <p:txBody>
          <a:bodyPr/>
          <a:lstStyle/>
          <a:p>
            <a:pPr lvl="0"/>
            <a:r>
              <a:rPr/>
              <a:t>Many tennis prediction models exist, but:</a:t>
            </a:r>
          </a:p>
          <a:p>
            <a:pPr lvl="1"/>
            <a:r>
              <a:rPr/>
              <a:t>Require detailed data not available to casual fans</a:t>
            </a:r>
          </a:p>
          <a:p>
            <a:pPr lvl="1"/>
            <a:r>
              <a:rPr/>
              <a:t>Perform best for well-known, frequently studied players</a:t>
            </a:r>
          </a:p>
          <a:p>
            <a:pPr lvl="0"/>
            <a:r>
              <a:rPr/>
              <a:t>Simpler models proposed are regression, ELO points based logistic model, and previous head-to-head match-ups</a:t>
            </a:r>
          </a:p>
          <a:p>
            <a:pPr lvl="0"/>
            <a:r>
              <a:rPr/>
              <a:t>They are accessible, but:</a:t>
            </a:r>
          </a:p>
          <a:p>
            <a:pPr lvl="1"/>
            <a:r>
              <a:rPr/>
              <a:t>Are often too limited or use the aforementioned detailed data</a:t>
            </a:r>
          </a:p>
          <a:p>
            <a:pPr lvl="1"/>
            <a:r>
              <a:rPr/>
              <a:t>Can perform poorly for less-studied players</a:t>
            </a:r>
          </a:p>
          <a:p>
            <a:pPr lvl="0" indent="0" marL="0">
              <a:buNone/>
            </a:pPr>
            <a:r>
              <a:rPr/>
              <a:t>Key gap: No simple, accessible model designed specifically for players with limited data</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Model</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Approach</a:t>
            </a:r>
          </a:p>
        </p:txBody>
      </p:sp>
      <p:sp>
        <p:nvSpPr>
          <p:cNvPr id="3" name="Content Placeholder 2"/>
          <p:cNvSpPr>
            <a:spLocks noGrp="1"/>
          </p:cNvSpPr>
          <p:nvPr>
            <p:ph idx="1"/>
          </p:nvPr>
        </p:nvSpPr>
        <p:spPr/>
        <p:txBody>
          <a:bodyPr/>
          <a:lstStyle/>
          <a:p>
            <a:pPr lvl="0"/>
            <a:r>
              <a:rPr/>
              <a:t>Designed specifically for lesser-known / low-data players</a:t>
            </a:r>
          </a:p>
          <a:p>
            <a:pPr lvl="0"/>
            <a:r>
              <a:rPr/>
              <a:t>Uses only information visible to casual viewers:</a:t>
            </a:r>
          </a:p>
          <a:p>
            <a:pPr lvl="1"/>
            <a:r>
              <a:rPr/>
              <a:t>Rankings, Court Surface, and Player names</a:t>
            </a:r>
          </a:p>
          <a:p>
            <a:pPr lvl="0"/>
            <a:r>
              <a:rPr/>
              <a:t>Combines regression + point-based ideas</a:t>
            </a:r>
          </a:p>
          <a:p>
            <a:pPr lvl="0"/>
            <a:r>
              <a:rPr/>
              <a:t>Bayesian framework allows us to borrow strength from well-studied players to produce more stable predictions with limited data</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Test double</a:t>
            </a:r>
          </a:p>
        </p:txBody>
      </p:sp>
      <p:sp>
        <p:nvSpPr>
          <p:cNvPr id="4" name="Text Placeholder 3"/>
          <p:cNvSpPr>
            <a:spLocks noGrp="1"/>
          </p:cNvSpPr>
          <p:nvPr>
            <p:ph idx="2" sz="half" type="body"/>
          </p:nvPr>
        </p:nvSpPr>
        <p:spPr/>
        <p:txBody>
          <a:bodyPr/>
          <a:lstStyle/>
          <a:p>
            <a:pPr lvl="0" indent="0" marL="0">
              <a:buNone/>
            </a:pPr>
            <a:r>
              <a:rPr/>
              <a:t>Words</a:t>
            </a:r>
          </a:p>
        </p:txBody>
      </p:sp>
      <p:pic>
        <p:nvPicPr>
          <p:cNvPr descr="Presentation_files/figure-pptx/unnamed-chunk-1-1.png" id="0" name="Picture 1"/>
          <p:cNvPicPr>
            <a:picLocks noGrp="1" noChangeAspect="1"/>
          </p:cNvPicPr>
          <p:nvPr/>
        </p:nvPicPr>
        <p:blipFill>
          <a:blip r:embed="rId2"/>
          <a:stretch>
            <a:fillRect/>
          </a:stretch>
        </p:blipFill>
        <p:spPr bwMode="auto">
          <a:xfrm>
            <a:off x="3568700" y="685800"/>
            <a:ext cx="5105400" cy="34036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Only plot</a:t>
            </a:r>
          </a:p>
        </p:txBody>
      </p:sp>
      <p:pic>
        <p:nvPicPr>
          <p:cNvPr descr="Presentation_files/figure-pptx/unnamed-chunk-2-1.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Script</a:t>
            </a:r>
          </a:p>
        </p:txBody>
      </p:sp>
      <p:sp>
        <p:nvSpPr>
          <p:cNvPr id="3" name="Content Placeholder 2"/>
          <p:cNvSpPr>
            <a:spLocks noGrp="1"/>
          </p:cNvSpPr>
          <p:nvPr>
            <p:ph idx="1"/>
          </p:nvPr>
        </p:nvSpPr>
        <p:spPr/>
        <p:txBody>
          <a:bodyPr/>
          <a:lstStyle/>
          <a:p>
            <a:pPr lvl="0" indent="0" marL="0">
              <a:buNone/>
            </a:pPr>
            <a:r>
              <a:rPr i="1"/>
              <a:t>Script:</a:t>
            </a:r>
          </a:p>
          <a:p>
            <a:pPr lvl="0" indent="0" marL="0">
              <a:buNone/>
            </a:pPr>
            <a:r>
              <a:rPr i="1"/>
              <a:t>Imagine you turn on the TV and a game of tennis is playing. You don’t necessarily follow tennis very closely, but you like watching the games and you want to know who you should root for. This is really easy for the big names like Nadal, Federer, Djokovic, Alcaraz, but what about the smaller names? What if you want to root for the underdog, but don’t want to risk getting your hopes up for nothing?</a:t>
            </a:r>
          </a:p>
          <a:p>
            <a:pPr lvl="0" indent="0" marL="0">
              <a:buNone/>
            </a:pPr>
            <a:r>
              <a:rPr i="1"/>
              <a:t>My partner and I both casually enjoy tennis, and we thought this would be a fun algorithm to use next time we tune in to a match. We found this amazing repository from gitHub that has records of professional matches from 1968-2024. We have chose to hone in on data from the years 2019-2023 for completeness and recency.</a:t>
            </a:r>
          </a:p>
          <a:p>
            <a:pPr lvl="0" indent="0" marL="0">
              <a:buNone/>
            </a:pPr>
            <a:r>
              <a:rPr i="1"/>
              <a:t>Now there are a number of factors determining who will win a match of tennis. Handed-ness, endurance, play style, but remember, we are causal fans, we don’t know any of this, nor do we know the intricate rock-paper-scissors mechanics of these factors. We are assuming that you can only see what is on TV and only have the motivation to google who the underdog is in a given scenario. So, we know the player, the court surface, and the men’s professional tennis (ATP) ranking. What now?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
  <cp:keywords/>
  <dcterms:created xsi:type="dcterms:W3CDTF">2026-04-27T21:02:37Z</dcterms:created>
  <dcterms:modified xsi:type="dcterms:W3CDTF">2026-04-27T21:02:37Z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visual</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toc-title">
    <vt:lpwstr>Table of contents</vt:lpwstr>
  </property>
</Properties>
</file>